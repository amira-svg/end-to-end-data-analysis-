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18" y="-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7B041-1950-41B6-8D8F-ACFA91E4B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C9BE45-AAF8-41A7-8D1C-CA88F3D01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3574D-8C88-4E12-8589-08BC21A11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3C12-44AF-4E60-9B66-9C7759498171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E84DD-B967-4523-8797-19DFBC24E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61C1A-5292-4D8F-A934-058206B32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87068-0686-499B-B6CB-D2823EA4A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75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D7864-6D8E-4150-893F-053A27D1D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11BF5-D771-4254-882B-D84A52A01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AC4CF-ABE0-4328-9302-217FFC263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3C12-44AF-4E60-9B66-9C7759498171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50CEC-13BB-488C-A7F9-C7773C2B7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5AC6D-9E3C-43E7-A290-2CA949F7F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87068-0686-499B-B6CB-D2823EA4A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449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664EA-6DF1-4096-AC6B-B07121AD0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557DE-662A-454A-A751-29A35BC00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CE76E-EC88-4D65-A39D-D1545B294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3C12-44AF-4E60-9B66-9C7759498171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5C804-649E-49F7-AE72-9A4A6941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6D921-7AA9-4AFE-9DDC-B94B318A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87068-0686-499B-B6CB-D2823EA4A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851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75657-A72E-4DE9-B3F9-0626AB86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AC83C-5A8A-4EE4-A774-83A4BD2E0A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76B8B3-1571-402E-86F2-1DDE53160B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F8492A-B12E-401E-A7B0-F6220BE85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3C12-44AF-4E60-9B66-9C7759498171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235BF-7D63-4902-94F8-1B3B79100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BB633-440E-4C7E-8DF0-9A0684276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87068-0686-499B-B6CB-D2823EA4A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671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A6E9D-15C2-42B9-8A56-C45A647A5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75D13-D1F7-490F-BD99-1607A23C0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6EA202-AE6E-457F-9361-803DF3E64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4CA6E1-7342-4225-AA90-5B003579B5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138035-6A96-4C5D-B1B9-6DCD992C59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491AE4-8824-4AFD-A492-AE6ADA15B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3C12-44AF-4E60-9B66-9C7759498171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95B617-211C-48A0-9021-7A28137D7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68715E-E239-413D-9EB5-EBB1C7E9A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87068-0686-499B-B6CB-D2823EA4A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815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47745-28CC-4765-BC06-AB6B2D418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A95E34-9654-4EEC-B078-7964DBB60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3C12-44AF-4E60-9B66-9C7759498171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9B1F06-5439-4B47-8523-7537EBD5C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37234E-B5D1-4578-8B5A-B517DA81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87068-0686-499B-B6CB-D2823EA4A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522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18CD8-03E6-4EFC-B879-D5015F419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3C12-44AF-4E60-9B66-9C7759498171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7222B1-6CE7-4674-9D5F-CB15402A0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E7EE0-B05B-49C3-A40A-F972C5E01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87068-0686-499B-B6CB-D2823EA4A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664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78177-54DD-4105-A2C4-CE4F8CEBA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54355-2E23-4592-8EE8-46BA274FC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EA9255-10E2-4F19-A06F-FBC1AE30A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6C2CC-DC72-4CE1-9AE2-1588DF52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3C12-44AF-4E60-9B66-9C7759498171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9643F-A27F-4A0A-A2F1-8547C47F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32353-2F59-4B8C-BE92-49391BA7B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87068-0686-499B-B6CB-D2823EA4A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5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A819F-6483-4F87-86C5-20CBA6148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11C803-B47E-4EB4-9723-55A05F8D1F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BC0D2-A854-4C00-8E08-1B0299B84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F0AB2-91FE-46BF-B17C-64711F14D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3C12-44AF-4E60-9B66-9C7759498171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580A57-206D-4D76-A2C8-1D329FCF7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B7FC0-C4A9-4636-8564-14EB64050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87068-0686-499B-B6CB-D2823EA4A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210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AD6AC-4B2C-44C8-8CEF-2A35D6AEF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71512-C4EE-4491-8BB9-8CC425400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4E049-3780-4B97-A5E2-813A3DC75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3C12-44AF-4E60-9B66-9C7759498171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BFA23-E1AA-46CC-9707-EF5E81C02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28867-9C5B-4D7E-BA67-97799D1A8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87068-0686-499B-B6CB-D2823EA4A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653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5C5C60-B677-4A2B-A4A4-195A63A70A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128954-E5EF-4EDE-BE05-48A9897341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8E33F-D002-4ADA-BDB5-438DF2E1D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3C12-44AF-4E60-9B66-9C7759498171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7F560-2092-47BC-A5E4-B20996139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0BB56-1379-4FD2-934D-0BE6F2AE0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87068-0686-499B-B6CB-D2823EA4A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128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7BB52F-AEA1-4651-8229-15CF882B3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B9028-0BB8-4F62-ACF4-4587776F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CA97C-4B76-4B2E-B492-FA254B9EC7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03C12-44AF-4E60-9B66-9C7759498171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EABB0-1FC0-4500-9F8A-9564E621F7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5746D-4A3C-491A-99AD-EF3D650D07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187068-0686-499B-B6CB-D2823EA4A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849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55DA2AB-1420-4B0A-983C-9295EC7A8A7B}"/>
              </a:ext>
            </a:extLst>
          </p:cNvPr>
          <p:cNvSpPr/>
          <p:nvPr/>
        </p:nvSpPr>
        <p:spPr>
          <a:xfrm>
            <a:off x="-2337323" y="-2092271"/>
            <a:ext cx="16142284" cy="3857664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04B6211-B9C5-4E2B-BFCC-D06477FD4E2F}"/>
              </a:ext>
            </a:extLst>
          </p:cNvPr>
          <p:cNvSpPr/>
          <p:nvPr/>
        </p:nvSpPr>
        <p:spPr>
          <a:xfrm rot="570221">
            <a:off x="-2059439" y="3567579"/>
            <a:ext cx="10542308" cy="4242362"/>
          </a:xfrm>
          <a:custGeom>
            <a:avLst/>
            <a:gdLst>
              <a:gd name="connsiteX0" fmla="*/ 875793 w 8938203"/>
              <a:gd name="connsiteY0" fmla="*/ 17278 h 2977638"/>
              <a:gd name="connsiteX1" fmla="*/ 2951336 w 8938203"/>
              <a:gd name="connsiteY1" fmla="*/ 1700935 h 2977638"/>
              <a:gd name="connsiteX2" fmla="*/ 8916707 w 8938203"/>
              <a:gd name="connsiteY2" fmla="*/ 2354078 h 2977638"/>
              <a:gd name="connsiteX3" fmla="*/ 614536 w 8938203"/>
              <a:gd name="connsiteY3" fmla="*/ 2862078 h 2977638"/>
              <a:gd name="connsiteX4" fmla="*/ 875793 w 8938203"/>
              <a:gd name="connsiteY4" fmla="*/ 17278 h 2977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38203" h="2977638">
                <a:moveTo>
                  <a:pt x="875793" y="17278"/>
                </a:moveTo>
                <a:cubicBezTo>
                  <a:pt x="1265259" y="-176246"/>
                  <a:pt x="1611184" y="1311468"/>
                  <a:pt x="2951336" y="1700935"/>
                </a:cubicBezTo>
                <a:cubicBezTo>
                  <a:pt x="4291488" y="2090402"/>
                  <a:pt x="9306173" y="2160554"/>
                  <a:pt x="8916707" y="2354078"/>
                </a:cubicBezTo>
                <a:cubicBezTo>
                  <a:pt x="8527241" y="2547602"/>
                  <a:pt x="1954688" y="3251545"/>
                  <a:pt x="614536" y="2862078"/>
                </a:cubicBezTo>
                <a:cubicBezTo>
                  <a:pt x="-725616" y="2472611"/>
                  <a:pt x="486327" y="210802"/>
                  <a:pt x="875793" y="1727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5774C7-6C45-4E23-B4BA-9091B6B98FC9}"/>
              </a:ext>
            </a:extLst>
          </p:cNvPr>
          <p:cNvSpPr/>
          <p:nvPr/>
        </p:nvSpPr>
        <p:spPr>
          <a:xfrm>
            <a:off x="1092200" y="1939565"/>
            <a:ext cx="10210800" cy="2604422"/>
          </a:xfrm>
          <a:prstGeom prst="roundRect">
            <a:avLst/>
          </a:prstGeom>
          <a:gradFill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latin typeface="Berlin Sans FB Demi" panose="020E0802020502020306" pitchFamily="34" charset="0"/>
              </a:rPr>
              <a:t>Synthetic Data </a:t>
            </a:r>
          </a:p>
          <a:p>
            <a:pPr algn="ctr"/>
            <a:r>
              <a:rPr lang="en-GB" sz="4400" dirty="0">
                <a:latin typeface="Berlin Sans FB Demi" panose="020E0802020502020306" pitchFamily="34" charset="0"/>
              </a:rPr>
              <a:t>for </a:t>
            </a:r>
          </a:p>
          <a:p>
            <a:pPr algn="ctr"/>
            <a:r>
              <a:rPr lang="en-GB" sz="3200" dirty="0">
                <a:latin typeface="Berlin Sans FB Demi" panose="020E0802020502020306" pitchFamily="34" charset="0"/>
              </a:rPr>
              <a:t>Bias Detection &amp; Fairness Audits</a:t>
            </a:r>
            <a:endParaRPr lang="en-US" sz="3200" b="1" dirty="0">
              <a:latin typeface="Berlin Sans FB Demi" panose="020E0802020502020306" pitchFamily="34" charset="0"/>
            </a:endParaRPr>
          </a:p>
          <a:p>
            <a:pPr algn="ctr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62521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55DA2AB-1420-4B0A-983C-9295EC7A8A7B}"/>
              </a:ext>
            </a:extLst>
          </p:cNvPr>
          <p:cNvSpPr/>
          <p:nvPr/>
        </p:nvSpPr>
        <p:spPr>
          <a:xfrm rot="5400000">
            <a:off x="3957573" y="-800500"/>
            <a:ext cx="16142284" cy="3857664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CB2C10-C8C0-456D-8D8F-38BE392896FE}"/>
              </a:ext>
            </a:extLst>
          </p:cNvPr>
          <p:cNvSpPr/>
          <p:nvPr/>
        </p:nvSpPr>
        <p:spPr>
          <a:xfrm rot="16200000">
            <a:off x="-7762713" y="-737353"/>
            <a:ext cx="16142284" cy="3857664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B847DF6-D4FC-4E01-9053-D2723B130B21}"/>
              </a:ext>
            </a:extLst>
          </p:cNvPr>
          <p:cNvSpPr/>
          <p:nvPr/>
        </p:nvSpPr>
        <p:spPr>
          <a:xfrm>
            <a:off x="2092118" y="2876857"/>
            <a:ext cx="3062514" cy="3715503"/>
          </a:xfrm>
          <a:prstGeom prst="roundRect">
            <a:avLst/>
          </a:prstGeom>
          <a:gradFill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Real-world datasets inherit historical biases (racial, gender, socio-economic).</a:t>
            </a:r>
            <a:endParaRPr lang="en-US" sz="2800" b="1" dirty="0">
              <a:latin typeface="Bahnschrift SemiBold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E6B5367-B708-4D60-BEE8-711473EC3F26}"/>
              </a:ext>
            </a:extLst>
          </p:cNvPr>
          <p:cNvSpPr/>
          <p:nvPr/>
        </p:nvSpPr>
        <p:spPr>
          <a:xfrm>
            <a:off x="2394857" y="265639"/>
            <a:ext cx="6981372" cy="2077203"/>
          </a:xfrm>
          <a:prstGeom prst="roundRect">
            <a:avLst/>
          </a:prstGeom>
          <a:gradFill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Core Problem</a:t>
            </a:r>
            <a:endParaRPr lang="en-US" sz="4800" b="1" dirty="0">
              <a:latin typeface="Bahnschrift SemiBold" panose="020B0502040204020203" pitchFamily="34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4B02082-004B-4001-A79E-69F9BC4F90F3}"/>
              </a:ext>
            </a:extLst>
          </p:cNvPr>
          <p:cNvSpPr/>
          <p:nvPr/>
        </p:nvSpPr>
        <p:spPr>
          <a:xfrm>
            <a:off x="6675542" y="2876857"/>
            <a:ext cx="3062514" cy="3715503"/>
          </a:xfrm>
          <a:prstGeom prst="roundRect">
            <a:avLst/>
          </a:prstGeom>
          <a:gradFill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Data sparsity for minority groups leads to discriminatory models.</a:t>
            </a:r>
            <a:endParaRPr lang="en-US" sz="2800" b="1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383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55DA2AB-1420-4B0A-983C-9295EC7A8A7B}"/>
              </a:ext>
            </a:extLst>
          </p:cNvPr>
          <p:cNvSpPr/>
          <p:nvPr/>
        </p:nvSpPr>
        <p:spPr>
          <a:xfrm rot="7096797">
            <a:off x="4135980" y="3219956"/>
            <a:ext cx="16142284" cy="3857664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CB2C10-C8C0-456D-8D8F-38BE392896FE}"/>
              </a:ext>
            </a:extLst>
          </p:cNvPr>
          <p:cNvSpPr/>
          <p:nvPr/>
        </p:nvSpPr>
        <p:spPr>
          <a:xfrm rot="19000952">
            <a:off x="-7182142" y="-1274381"/>
            <a:ext cx="16142284" cy="3857664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EBA7685-9C54-4211-BFEB-25D971EA7DEC}"/>
              </a:ext>
            </a:extLst>
          </p:cNvPr>
          <p:cNvSpPr/>
          <p:nvPr/>
        </p:nvSpPr>
        <p:spPr>
          <a:xfrm>
            <a:off x="3587729" y="377371"/>
            <a:ext cx="5016541" cy="1901370"/>
          </a:xfrm>
          <a:prstGeom prst="roundRect">
            <a:avLst/>
          </a:prstGeom>
          <a:gradFill flip="none" rotWithShape="1">
            <a:gsLst>
              <a:gs pos="0">
                <a:schemeClr val="accent1"/>
              </a:gs>
              <a:gs pos="97000">
                <a:srgbClr val="7030A0"/>
              </a:gs>
            </a:gsLst>
            <a:path path="rect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Bahnschrift" panose="020B0502040204020203" pitchFamily="34" charset="0"/>
              </a:rPr>
              <a:t>The Solution (Synthetic Data)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4A985D6-74B9-40AE-B57B-49158CFD46BE}"/>
              </a:ext>
            </a:extLst>
          </p:cNvPr>
          <p:cNvSpPr/>
          <p:nvPr/>
        </p:nvSpPr>
        <p:spPr>
          <a:xfrm>
            <a:off x="870857" y="2656120"/>
            <a:ext cx="4636583" cy="3766455"/>
          </a:xfrm>
          <a:prstGeom prst="roundRect">
            <a:avLst/>
          </a:prstGeom>
          <a:gradFill flip="none" rotWithShape="1">
            <a:gsLst>
              <a:gs pos="0">
                <a:schemeClr val="accent1"/>
              </a:gs>
              <a:gs pos="97000">
                <a:srgbClr val="7030A0"/>
              </a:gs>
            </a:gsLst>
            <a:path path="rect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atin typeface="Arial Black" panose="020B0A04020102020204" pitchFamily="34" charset="0"/>
              </a:rPr>
              <a:t>Algorithmically generated data that mimics real data distribution without exposing Personally Identifiable Information (PII).</a:t>
            </a:r>
            <a:endParaRPr lang="en-US" sz="2400" b="1" dirty="0">
              <a:latin typeface="Arial Black" panose="020B0A040201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EA8661C-14CB-4311-AFF6-D27CC170D6B6}"/>
              </a:ext>
            </a:extLst>
          </p:cNvPr>
          <p:cNvSpPr/>
          <p:nvPr/>
        </p:nvSpPr>
        <p:spPr>
          <a:xfrm>
            <a:off x="6966857" y="2656120"/>
            <a:ext cx="3885812" cy="3802740"/>
          </a:xfrm>
          <a:prstGeom prst="roundRect">
            <a:avLst/>
          </a:prstGeom>
          <a:gradFill flip="none" rotWithShape="1">
            <a:gsLst>
              <a:gs pos="0">
                <a:schemeClr val="accent1"/>
              </a:gs>
              <a:gs pos="97000">
                <a:srgbClr val="7030A0"/>
              </a:gs>
            </a:gsLst>
            <a:path path="rect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Bahnschrift" panose="020B0502040204020203" pitchFamily="34" charset="0"/>
              </a:rPr>
              <a:t>Provides a secure sandbox for experimentation without privacy violations.</a:t>
            </a:r>
            <a:endParaRPr lang="en-US" sz="3200" b="1" dirty="0">
              <a:latin typeface="Bahnschrift" panose="020B0502040204020203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9A95459-3939-484F-8126-9CCE635B239B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5507440" y="4539348"/>
            <a:ext cx="1459417" cy="18142"/>
          </a:xfrm>
          <a:prstGeom prst="straightConnector1">
            <a:avLst/>
          </a:prstGeom>
          <a:ln w="698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7911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55DA2AB-1420-4B0A-983C-9295EC7A8A7B}"/>
              </a:ext>
            </a:extLst>
          </p:cNvPr>
          <p:cNvSpPr/>
          <p:nvPr/>
        </p:nvSpPr>
        <p:spPr>
          <a:xfrm rot="7096797">
            <a:off x="4135980" y="3219956"/>
            <a:ext cx="16142284" cy="3857664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CB2C10-C8C0-456D-8D8F-38BE392896FE}"/>
              </a:ext>
            </a:extLst>
          </p:cNvPr>
          <p:cNvSpPr/>
          <p:nvPr/>
        </p:nvSpPr>
        <p:spPr>
          <a:xfrm rot="19000952">
            <a:off x="-7182142" y="-1274381"/>
            <a:ext cx="16142284" cy="3857664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EBA7685-9C54-4211-BFEB-25D971EA7DEC}"/>
              </a:ext>
            </a:extLst>
          </p:cNvPr>
          <p:cNvSpPr/>
          <p:nvPr/>
        </p:nvSpPr>
        <p:spPr>
          <a:xfrm>
            <a:off x="2759066" y="458182"/>
            <a:ext cx="7080271" cy="1901370"/>
          </a:xfrm>
          <a:prstGeom prst="roundRect">
            <a:avLst/>
          </a:prstGeom>
          <a:gradFill flip="none" rotWithShape="1">
            <a:gsLst>
              <a:gs pos="0">
                <a:schemeClr val="accent1"/>
              </a:gs>
              <a:gs pos="97000">
                <a:srgbClr val="7030A0"/>
              </a:gs>
            </a:gsLst>
            <a:path path="rect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Objectives of the Presentation</a:t>
            </a:r>
            <a:endParaRPr lang="en-US" sz="3600" b="1" dirty="0">
              <a:latin typeface="Bahnschrift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4A985D6-74B9-40AE-B57B-49158CFD46BE}"/>
              </a:ext>
            </a:extLst>
          </p:cNvPr>
          <p:cNvSpPr/>
          <p:nvPr/>
        </p:nvSpPr>
        <p:spPr>
          <a:xfrm>
            <a:off x="1756229" y="2859314"/>
            <a:ext cx="3576017" cy="3540504"/>
          </a:xfrm>
          <a:prstGeom prst="roundRect">
            <a:avLst/>
          </a:prstGeom>
          <a:gradFill flip="none" rotWithShape="1">
            <a:gsLst>
              <a:gs pos="0">
                <a:schemeClr val="accent1"/>
              </a:gs>
              <a:gs pos="97000">
                <a:srgbClr val="7030A0"/>
              </a:gs>
            </a:gsLst>
            <a:path path="rect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Bahnschrift" panose="020B0502040204020203" pitchFamily="34" charset="0"/>
              </a:rPr>
              <a:t>Understand the role of synthetic data in uncovering model bias.</a:t>
            </a:r>
            <a:endParaRPr lang="en-US" sz="2800" b="1" dirty="0">
              <a:latin typeface="Bahnschrift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EA8661C-14CB-4311-AFF6-D27CC170D6B6}"/>
              </a:ext>
            </a:extLst>
          </p:cNvPr>
          <p:cNvSpPr/>
          <p:nvPr/>
        </p:nvSpPr>
        <p:spPr>
          <a:xfrm>
            <a:off x="7120255" y="2859314"/>
            <a:ext cx="3581012" cy="3540504"/>
          </a:xfrm>
          <a:prstGeom prst="roundRect">
            <a:avLst/>
          </a:prstGeom>
          <a:gradFill flip="none" rotWithShape="1">
            <a:gsLst>
              <a:gs pos="0">
                <a:schemeClr val="accent1"/>
              </a:gs>
              <a:gs pos="97000">
                <a:srgbClr val="7030A0"/>
              </a:gs>
            </a:gsLst>
            <a:path path="rect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Explore generation methodologies and practical algorithmic auditing applications.</a:t>
            </a:r>
            <a:endParaRPr lang="en-US" sz="2800" b="1" dirty="0">
              <a:latin typeface="Bahnschrift" panose="020B0502040204020203" pitchFamily="34" charset="0"/>
            </a:endParaRP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8ED528CE-C8C4-4D84-A20A-AB278272DDCD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rot="16200000" flipH="1">
            <a:off x="7355100" y="1303653"/>
            <a:ext cx="499762" cy="2611559"/>
          </a:xfrm>
          <a:prstGeom prst="curvedConnector3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CBC5934C-65FC-432D-9006-E9A5CD3402DC}"/>
              </a:ext>
            </a:extLst>
          </p:cNvPr>
          <p:cNvCxnSpPr>
            <a:cxnSpLocks/>
            <a:stCxn id="2" idx="2"/>
            <a:endCxn id="10" idx="0"/>
          </p:cNvCxnSpPr>
          <p:nvPr/>
        </p:nvCxnSpPr>
        <p:spPr>
          <a:xfrm rot="5400000">
            <a:off x="4671839" y="1231951"/>
            <a:ext cx="499762" cy="2754964"/>
          </a:xfrm>
          <a:prstGeom prst="curvedConnector3">
            <a:avLst>
              <a:gd name="adj1" fmla="val 50000"/>
            </a:avLst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703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55DA2AB-1420-4B0A-983C-9295EC7A8A7B}"/>
              </a:ext>
            </a:extLst>
          </p:cNvPr>
          <p:cNvSpPr/>
          <p:nvPr/>
        </p:nvSpPr>
        <p:spPr>
          <a:xfrm rot="7096797">
            <a:off x="5413238" y="4685899"/>
            <a:ext cx="16142284" cy="3857664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CB2C10-C8C0-456D-8D8F-38BE392896FE}"/>
              </a:ext>
            </a:extLst>
          </p:cNvPr>
          <p:cNvSpPr/>
          <p:nvPr/>
        </p:nvSpPr>
        <p:spPr>
          <a:xfrm rot="624799">
            <a:off x="-1466909" y="-6641803"/>
            <a:ext cx="16142284" cy="14598021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  <a:effectLst>
            <a:outerShdw blurRad="596900" dist="457200" dir="5340000" sx="105000" sy="105000" algn="ctr" rotWithShape="0">
              <a:srgbClr val="000000">
                <a:alpha val="3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3F9BAD-24A1-4788-8518-C32295C1B5DE}"/>
              </a:ext>
            </a:extLst>
          </p:cNvPr>
          <p:cNvSpPr txBox="1"/>
          <p:nvPr/>
        </p:nvSpPr>
        <p:spPr>
          <a:xfrm>
            <a:off x="1016000" y="2569029"/>
            <a:ext cx="7547427" cy="3631763"/>
          </a:xfrm>
          <a:prstGeom prst="rect">
            <a:avLst/>
          </a:prstGeom>
          <a:noFill/>
          <a:effectLst>
            <a:glow rad="254000">
              <a:schemeClr val="accent4">
                <a:alpha val="99000"/>
              </a:schemeClr>
            </a:glow>
            <a:softEdge rad="889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1500" b="1" dirty="0">
                <a:solidFill>
                  <a:srgbClr val="7030A0"/>
                </a:solidFill>
              </a:rPr>
              <a:t>Strategic Advantages</a:t>
            </a:r>
          </a:p>
        </p:txBody>
      </p:sp>
    </p:spTree>
    <p:extLst>
      <p:ext uri="{BB962C8B-B14F-4D97-AF65-F5344CB8AC3E}">
        <p14:creationId xmlns:p14="http://schemas.microsoft.com/office/powerpoint/2010/main" val="2459964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55DA2AB-1420-4B0A-983C-9295EC7A8A7B}"/>
              </a:ext>
            </a:extLst>
          </p:cNvPr>
          <p:cNvSpPr/>
          <p:nvPr/>
        </p:nvSpPr>
        <p:spPr>
          <a:xfrm rot="7096797">
            <a:off x="3250971" y="2857100"/>
            <a:ext cx="16142284" cy="3857664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CB2C10-C8C0-456D-8D8F-38BE392896FE}"/>
              </a:ext>
            </a:extLst>
          </p:cNvPr>
          <p:cNvSpPr/>
          <p:nvPr/>
        </p:nvSpPr>
        <p:spPr>
          <a:xfrm rot="19072104">
            <a:off x="-4985418" y="-3764163"/>
            <a:ext cx="16142284" cy="5225689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  <a:effectLst>
            <a:outerShdw blurRad="596900" dist="457200" dir="5340000" sx="105000" sy="105000" algn="ctr" rotWithShape="0">
              <a:srgbClr val="000000">
                <a:alpha val="3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8C06E2E-D4AD-4667-B505-E4A0A6008990}"/>
              </a:ext>
            </a:extLst>
          </p:cNvPr>
          <p:cNvSpPr/>
          <p:nvPr/>
        </p:nvSpPr>
        <p:spPr>
          <a:xfrm>
            <a:off x="2986650" y="802349"/>
            <a:ext cx="6218700" cy="1683657"/>
          </a:xfrm>
          <a:prstGeom prst="roundRect">
            <a:avLst/>
          </a:prstGeom>
          <a:gradFill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Demographic Balancing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B11539-13D1-44CF-9AB9-72AB6BD96920}"/>
              </a:ext>
            </a:extLst>
          </p:cNvPr>
          <p:cNvSpPr txBox="1"/>
          <p:nvPr/>
        </p:nvSpPr>
        <p:spPr>
          <a:xfrm>
            <a:off x="805542" y="2841375"/>
            <a:ext cx="90424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400" b="1" dirty="0">
                <a:solidFill>
                  <a:srgbClr val="7030A0"/>
                </a:solidFill>
              </a:rPr>
              <a:t>Artificially scaling up representation for underrepresented groups to fix native skew.</a:t>
            </a:r>
            <a:endParaRPr lang="en-US" sz="4400" b="1" dirty="0">
              <a:solidFill>
                <a:srgbClr val="7030A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165204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55DA2AB-1420-4B0A-983C-9295EC7A8A7B}"/>
              </a:ext>
            </a:extLst>
          </p:cNvPr>
          <p:cNvSpPr/>
          <p:nvPr/>
        </p:nvSpPr>
        <p:spPr>
          <a:xfrm rot="10405407">
            <a:off x="-1687138" y="4968695"/>
            <a:ext cx="16142284" cy="3857664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CB2C10-C8C0-456D-8D8F-38BE392896FE}"/>
              </a:ext>
            </a:extLst>
          </p:cNvPr>
          <p:cNvSpPr/>
          <p:nvPr/>
        </p:nvSpPr>
        <p:spPr>
          <a:xfrm rot="20082065">
            <a:off x="-4756818" y="-3165296"/>
            <a:ext cx="16142284" cy="5225689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  <a:effectLst>
            <a:outerShdw blurRad="596900" dist="457200" dir="5340000" sx="105000" sy="105000" algn="ctr" rotWithShape="0">
              <a:srgbClr val="000000">
                <a:alpha val="3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8C06E2E-D4AD-4667-B505-E4A0A6008990}"/>
              </a:ext>
            </a:extLst>
          </p:cNvPr>
          <p:cNvSpPr/>
          <p:nvPr/>
        </p:nvSpPr>
        <p:spPr>
          <a:xfrm>
            <a:off x="2986650" y="845287"/>
            <a:ext cx="6218700" cy="1683657"/>
          </a:xfrm>
          <a:prstGeom prst="roundRect">
            <a:avLst/>
          </a:prstGeom>
          <a:gradFill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Historical Bias Removal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B11539-13D1-44CF-9AB9-72AB6BD96920}"/>
              </a:ext>
            </a:extLst>
          </p:cNvPr>
          <p:cNvSpPr txBox="1"/>
          <p:nvPr/>
        </p:nvSpPr>
        <p:spPr>
          <a:xfrm>
            <a:off x="1168399" y="3211946"/>
            <a:ext cx="772885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400" b="1" dirty="0">
                <a:solidFill>
                  <a:srgbClr val="7030A0"/>
                </a:solidFill>
              </a:rPr>
              <a:t>Decoupling protected attributes (e.g., race, gender) from target outcomes in training targets.</a:t>
            </a:r>
            <a:endParaRPr lang="en-US" sz="4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205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CB2C10-C8C0-456D-8D8F-38BE392896FE}"/>
              </a:ext>
            </a:extLst>
          </p:cNvPr>
          <p:cNvSpPr/>
          <p:nvPr/>
        </p:nvSpPr>
        <p:spPr>
          <a:xfrm rot="17736660">
            <a:off x="-7297960" y="-573756"/>
            <a:ext cx="16142284" cy="5225689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  <a:effectLst>
            <a:outerShdw blurRad="596900" dist="457200" dir="5340000" sx="105000" sy="105000" algn="ctr" rotWithShape="0">
              <a:srgbClr val="000000">
                <a:alpha val="3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8C06E2E-D4AD-4667-B505-E4A0A6008990}"/>
              </a:ext>
            </a:extLst>
          </p:cNvPr>
          <p:cNvSpPr/>
          <p:nvPr/>
        </p:nvSpPr>
        <p:spPr>
          <a:xfrm>
            <a:off x="2986650" y="845287"/>
            <a:ext cx="6218700" cy="1683657"/>
          </a:xfrm>
          <a:prstGeom prst="roundRect">
            <a:avLst/>
          </a:prstGeom>
          <a:gradFill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Counterfactual Testing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B11539-13D1-44CF-9AB9-72AB6BD96920}"/>
              </a:ext>
            </a:extLst>
          </p:cNvPr>
          <p:cNvSpPr txBox="1"/>
          <p:nvPr/>
        </p:nvSpPr>
        <p:spPr>
          <a:xfrm>
            <a:off x="1367879" y="2819906"/>
            <a:ext cx="772885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400" b="1" dirty="0">
                <a:solidFill>
                  <a:srgbClr val="7030A0"/>
                </a:solidFill>
              </a:rPr>
              <a:t>Testing how a model's prediction flips when changing only a single demographic attribute of an individual.</a:t>
            </a:r>
            <a:endParaRPr lang="en-US" sz="4400" b="1" dirty="0">
              <a:solidFill>
                <a:srgbClr val="7030A0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52BBB5A-2575-4456-BF00-9760550EA583}"/>
              </a:ext>
            </a:extLst>
          </p:cNvPr>
          <p:cNvSpPr/>
          <p:nvPr/>
        </p:nvSpPr>
        <p:spPr>
          <a:xfrm rot="5400000">
            <a:off x="3747052" y="1589212"/>
            <a:ext cx="16142284" cy="5225689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  <a:effectLst>
            <a:outerShdw blurRad="596900" dist="457200" dir="15000000" sx="105000" sy="105000" algn="ctr" rotWithShape="0">
              <a:srgbClr val="000000">
                <a:alpha val="3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944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CB2C10-C8C0-456D-8D8F-38BE392896FE}"/>
              </a:ext>
            </a:extLst>
          </p:cNvPr>
          <p:cNvSpPr/>
          <p:nvPr/>
        </p:nvSpPr>
        <p:spPr>
          <a:xfrm rot="14611794">
            <a:off x="-8071142" y="1607445"/>
            <a:ext cx="16142284" cy="5225689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  <a:effectLst>
            <a:outerShdw blurRad="596900" dist="457200" dir="5340000" sx="105000" sy="105000" algn="ctr" rotWithShape="0">
              <a:srgbClr val="000000">
                <a:alpha val="3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8C06E2E-D4AD-4667-B505-E4A0A6008990}"/>
              </a:ext>
            </a:extLst>
          </p:cNvPr>
          <p:cNvSpPr/>
          <p:nvPr/>
        </p:nvSpPr>
        <p:spPr>
          <a:xfrm>
            <a:off x="2986650" y="845287"/>
            <a:ext cx="6218700" cy="1683657"/>
          </a:xfrm>
          <a:prstGeom prst="roundRect">
            <a:avLst/>
          </a:prstGeom>
          <a:gradFill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Privacy-First Auditing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B11539-13D1-44CF-9AB9-72AB6BD96920}"/>
              </a:ext>
            </a:extLst>
          </p:cNvPr>
          <p:cNvSpPr txBox="1"/>
          <p:nvPr/>
        </p:nvSpPr>
        <p:spPr>
          <a:xfrm>
            <a:off x="1367879" y="2819906"/>
            <a:ext cx="772885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400" b="1" dirty="0">
                <a:solidFill>
                  <a:srgbClr val="7030A0"/>
                </a:solidFill>
              </a:rPr>
              <a:t>Empowering external third-party auditors to probe models without accessing real user data.</a:t>
            </a:r>
            <a:endParaRPr lang="en-US" sz="4400" b="1" dirty="0">
              <a:solidFill>
                <a:srgbClr val="7030A0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52BBB5A-2575-4456-BF00-9760550EA583}"/>
              </a:ext>
            </a:extLst>
          </p:cNvPr>
          <p:cNvSpPr/>
          <p:nvPr/>
        </p:nvSpPr>
        <p:spPr>
          <a:xfrm rot="7178934">
            <a:off x="3424582" y="1716212"/>
            <a:ext cx="16142284" cy="5225689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  <a:effectLst>
            <a:outerShdw blurRad="596900" dist="457200" dir="15000000" sx="105000" sy="105000" algn="ctr" rotWithShape="0">
              <a:srgbClr val="000000">
                <a:alpha val="3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808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55DA2AB-1420-4B0A-983C-9295EC7A8A7B}"/>
              </a:ext>
            </a:extLst>
          </p:cNvPr>
          <p:cNvSpPr/>
          <p:nvPr/>
        </p:nvSpPr>
        <p:spPr>
          <a:xfrm rot="7096797">
            <a:off x="5413238" y="4685899"/>
            <a:ext cx="16142284" cy="3857664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CB2C10-C8C0-456D-8D8F-38BE392896FE}"/>
              </a:ext>
            </a:extLst>
          </p:cNvPr>
          <p:cNvSpPr/>
          <p:nvPr/>
        </p:nvSpPr>
        <p:spPr>
          <a:xfrm rot="624799">
            <a:off x="-1466909" y="-6641803"/>
            <a:ext cx="16142284" cy="14598021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  <a:effectLst>
            <a:outerShdw blurRad="596900" dist="457200" dir="5340000" sx="105000" sy="105000" algn="ctr" rotWithShape="0">
              <a:srgbClr val="000000">
                <a:alpha val="3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3F9BAD-24A1-4788-8518-C32295C1B5DE}"/>
              </a:ext>
            </a:extLst>
          </p:cNvPr>
          <p:cNvSpPr txBox="1"/>
          <p:nvPr/>
        </p:nvSpPr>
        <p:spPr>
          <a:xfrm>
            <a:off x="766916" y="2979174"/>
            <a:ext cx="8937523" cy="3046988"/>
          </a:xfrm>
          <a:prstGeom prst="rect">
            <a:avLst/>
          </a:prstGeom>
          <a:noFill/>
          <a:effectLst>
            <a:glow rad="254000">
              <a:schemeClr val="accent4">
                <a:alpha val="99000"/>
              </a:schemeClr>
            </a:glow>
            <a:softEdge rad="889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rgbClr val="7030A0"/>
                </a:solidFill>
              </a:rPr>
              <a:t>Methodologies &amp; Techniques</a:t>
            </a:r>
            <a:endParaRPr lang="en-US" sz="115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018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55DA2AB-1420-4B0A-983C-9295EC7A8A7B}"/>
              </a:ext>
            </a:extLst>
          </p:cNvPr>
          <p:cNvSpPr/>
          <p:nvPr/>
        </p:nvSpPr>
        <p:spPr>
          <a:xfrm rot="5400000">
            <a:off x="3914380" y="2367359"/>
            <a:ext cx="16142284" cy="3857664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CB2C10-C8C0-456D-8D8F-38BE392896FE}"/>
              </a:ext>
            </a:extLst>
          </p:cNvPr>
          <p:cNvSpPr/>
          <p:nvPr/>
        </p:nvSpPr>
        <p:spPr>
          <a:xfrm rot="16200000">
            <a:off x="-8071142" y="1510705"/>
            <a:ext cx="16142284" cy="4793504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  <a:effectLst>
            <a:outerShdw blurRad="596900" dist="457200" dir="5340000" sx="105000" sy="105000" algn="ctr" rotWithShape="0">
              <a:srgbClr val="000000">
                <a:alpha val="3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646565-1AF8-4F40-B7CD-D7208ECEF6D4}"/>
              </a:ext>
            </a:extLst>
          </p:cNvPr>
          <p:cNvSpPr/>
          <p:nvPr/>
        </p:nvSpPr>
        <p:spPr>
          <a:xfrm>
            <a:off x="2393480" y="358259"/>
            <a:ext cx="740504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b="1" dirty="0">
                <a:solidFill>
                  <a:srgbClr val="7030A0"/>
                </a:solidFill>
              </a:rPr>
              <a:t>Generation Architectures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ACBA830-694A-400C-87B9-0D794C66DAA5}"/>
              </a:ext>
            </a:extLst>
          </p:cNvPr>
          <p:cNvSpPr/>
          <p:nvPr/>
        </p:nvSpPr>
        <p:spPr>
          <a:xfrm>
            <a:off x="1104900" y="1997694"/>
            <a:ext cx="2847975" cy="3819525"/>
          </a:xfrm>
          <a:prstGeom prst="roundRect">
            <a:avLst/>
          </a:prstGeom>
          <a:gradFill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Generative Adversarial Networks</a:t>
            </a:r>
          </a:p>
          <a:p>
            <a:pPr algn="ctr"/>
            <a:r>
              <a:rPr lang="en-US" sz="2400" b="1" dirty="0">
                <a:solidFill>
                  <a:schemeClr val="accent2"/>
                </a:solidFill>
              </a:rPr>
              <a:t>(GANS)</a:t>
            </a:r>
          </a:p>
          <a:p>
            <a:pPr algn="ctr"/>
            <a:r>
              <a:rPr lang="en-GB" dirty="0">
                <a:solidFill>
                  <a:schemeClr val="bg1"/>
                </a:solidFill>
              </a:rPr>
              <a:t>A machine learning framework where two neural networks</a:t>
            </a:r>
          </a:p>
          <a:p>
            <a:pPr algn="ctr"/>
            <a:r>
              <a:rPr lang="en-GB" dirty="0">
                <a:solidFill>
                  <a:schemeClr val="bg1"/>
                </a:solidFill>
              </a:rPr>
              <a:t>a </a:t>
            </a:r>
            <a:r>
              <a:rPr lang="en-GB" b="1" dirty="0">
                <a:solidFill>
                  <a:schemeClr val="bg1"/>
                </a:solidFill>
              </a:rPr>
              <a:t>generator</a:t>
            </a:r>
            <a:r>
              <a:rPr lang="en-GB" dirty="0">
                <a:solidFill>
                  <a:schemeClr val="bg1"/>
                </a:solidFill>
              </a:rPr>
              <a:t> and </a:t>
            </a:r>
          </a:p>
          <a:p>
            <a:pPr algn="ctr"/>
            <a:r>
              <a:rPr lang="en-GB" dirty="0">
                <a:solidFill>
                  <a:schemeClr val="bg1"/>
                </a:solidFill>
              </a:rPr>
              <a:t>a </a:t>
            </a:r>
            <a:r>
              <a:rPr lang="en-GB" b="1" dirty="0">
                <a:solidFill>
                  <a:schemeClr val="bg1"/>
                </a:solidFill>
              </a:rPr>
              <a:t>discriminator</a:t>
            </a:r>
          </a:p>
          <a:p>
            <a:pPr algn="ctr"/>
            <a:r>
              <a:rPr lang="en-GB" dirty="0">
                <a:solidFill>
                  <a:schemeClr val="bg1"/>
                </a:solidFill>
              </a:rPr>
              <a:t>compete in a zero-sum game.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989A7B5-89F8-4521-AF58-5988B9470439}"/>
              </a:ext>
            </a:extLst>
          </p:cNvPr>
          <p:cNvSpPr/>
          <p:nvPr/>
        </p:nvSpPr>
        <p:spPr>
          <a:xfrm>
            <a:off x="4314825" y="1997694"/>
            <a:ext cx="2847975" cy="3819525"/>
          </a:xfrm>
          <a:prstGeom prst="roundRect">
            <a:avLst/>
          </a:prstGeom>
          <a:gradFill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2"/>
                </a:solidFill>
              </a:rPr>
              <a:t>Variational Autoencoder </a:t>
            </a:r>
          </a:p>
          <a:p>
            <a:pPr algn="ctr"/>
            <a:r>
              <a:rPr lang="en-US" sz="2800" b="1" dirty="0">
                <a:solidFill>
                  <a:schemeClr val="accent2"/>
                </a:solidFill>
              </a:rPr>
              <a:t>(VAE)</a:t>
            </a:r>
          </a:p>
          <a:p>
            <a:pPr algn="ctr"/>
            <a:endParaRPr lang="en-US" sz="2400" dirty="0">
              <a:solidFill>
                <a:schemeClr val="accent2"/>
              </a:solidFill>
            </a:endParaRPr>
          </a:p>
          <a:p>
            <a:pPr algn="ctr"/>
            <a:r>
              <a:rPr lang="en-GB" dirty="0"/>
              <a:t>a type of artificial neural network used for generative artificial intelligence.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90BE7B0-BC6F-420A-AFEB-5251490D8113}"/>
              </a:ext>
            </a:extLst>
          </p:cNvPr>
          <p:cNvSpPr/>
          <p:nvPr/>
        </p:nvSpPr>
        <p:spPr>
          <a:xfrm>
            <a:off x="7753350" y="1997694"/>
            <a:ext cx="2847975" cy="3819525"/>
          </a:xfrm>
          <a:prstGeom prst="roundRect">
            <a:avLst/>
          </a:prstGeom>
          <a:gradFill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Bayesian Networks</a:t>
            </a:r>
          </a:p>
          <a:p>
            <a:pPr algn="ctr"/>
            <a:endParaRPr lang="en-US" sz="2400" dirty="0">
              <a:solidFill>
                <a:schemeClr val="accent2"/>
              </a:solidFill>
            </a:endParaRPr>
          </a:p>
          <a:p>
            <a:pPr algn="ctr"/>
            <a:r>
              <a:rPr lang="en-GB" sz="2400" dirty="0"/>
              <a:t>a map that shows how different things are connected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157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55DA2AB-1420-4B0A-983C-9295EC7A8A7B}"/>
              </a:ext>
            </a:extLst>
          </p:cNvPr>
          <p:cNvSpPr/>
          <p:nvPr/>
        </p:nvSpPr>
        <p:spPr>
          <a:xfrm rot="7269565">
            <a:off x="3840472" y="2439308"/>
            <a:ext cx="16142284" cy="3857664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CB2C10-C8C0-456D-8D8F-38BE392896FE}"/>
              </a:ext>
            </a:extLst>
          </p:cNvPr>
          <p:cNvSpPr/>
          <p:nvPr/>
        </p:nvSpPr>
        <p:spPr>
          <a:xfrm rot="17677881">
            <a:off x="-8015415" y="-321580"/>
            <a:ext cx="16142284" cy="4793504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  <a:effectLst>
            <a:outerShdw blurRad="596900" dist="457200" dir="5340000" sx="105000" sy="105000" algn="ctr" rotWithShape="0">
              <a:srgbClr val="000000">
                <a:alpha val="3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646565-1AF8-4F40-B7CD-D7208ECEF6D4}"/>
              </a:ext>
            </a:extLst>
          </p:cNvPr>
          <p:cNvSpPr/>
          <p:nvPr/>
        </p:nvSpPr>
        <p:spPr>
          <a:xfrm>
            <a:off x="2396753" y="767834"/>
            <a:ext cx="7053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b="1" dirty="0">
                <a:solidFill>
                  <a:srgbClr val="7030A0"/>
                </a:solidFill>
              </a:rPr>
              <a:t>Differential Privacy (DP)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ACBA830-694A-400C-87B9-0D794C66DAA5}"/>
              </a:ext>
            </a:extLst>
          </p:cNvPr>
          <p:cNvSpPr/>
          <p:nvPr/>
        </p:nvSpPr>
        <p:spPr>
          <a:xfrm>
            <a:off x="1522399" y="2228121"/>
            <a:ext cx="9124950" cy="3169269"/>
          </a:xfrm>
          <a:prstGeom prst="roundRect">
            <a:avLst/>
          </a:prstGeom>
          <a:gradFill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4800" b="1" dirty="0">
                <a:solidFill>
                  <a:schemeClr val="bg1"/>
                </a:solidFill>
              </a:rPr>
              <a:t>Injecting mathematical noise to                                   guarantee individual records cannot be reverse-engineered.</a:t>
            </a:r>
            <a:endParaRPr lang="en-US" sz="4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85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55DA2AB-1420-4B0A-983C-9295EC7A8A7B}"/>
              </a:ext>
            </a:extLst>
          </p:cNvPr>
          <p:cNvSpPr/>
          <p:nvPr/>
        </p:nvSpPr>
        <p:spPr>
          <a:xfrm rot="5400000">
            <a:off x="3842073" y="591460"/>
            <a:ext cx="16142284" cy="3857664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CB2C10-C8C0-456D-8D8F-38BE392896FE}"/>
              </a:ext>
            </a:extLst>
          </p:cNvPr>
          <p:cNvSpPr/>
          <p:nvPr/>
        </p:nvSpPr>
        <p:spPr>
          <a:xfrm rot="16545661">
            <a:off x="-8015415" y="-321580"/>
            <a:ext cx="16142284" cy="4793504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  <a:effectLst>
            <a:outerShdw blurRad="596900" dist="457200" dir="5340000" sx="105000" sy="105000" algn="ctr" rotWithShape="0">
              <a:srgbClr val="000000">
                <a:alpha val="3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646565-1AF8-4F40-B7CD-D7208ECEF6D4}"/>
              </a:ext>
            </a:extLst>
          </p:cNvPr>
          <p:cNvSpPr/>
          <p:nvPr/>
        </p:nvSpPr>
        <p:spPr>
          <a:xfrm>
            <a:off x="3009961" y="767834"/>
            <a:ext cx="614982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b="1" dirty="0">
                <a:solidFill>
                  <a:srgbClr val="7030A0"/>
                </a:solidFill>
              </a:rPr>
              <a:t>Causal AI Integration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ACBA830-694A-400C-87B9-0D794C66DAA5}"/>
              </a:ext>
            </a:extLst>
          </p:cNvPr>
          <p:cNvSpPr/>
          <p:nvPr/>
        </p:nvSpPr>
        <p:spPr>
          <a:xfrm>
            <a:off x="1522398" y="2520292"/>
            <a:ext cx="9124950" cy="3169269"/>
          </a:xfrm>
          <a:prstGeom prst="roundRect">
            <a:avLst/>
          </a:prstGeom>
          <a:gradFill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4800" b="1" dirty="0" err="1"/>
              <a:t>Modeling</a:t>
            </a:r>
            <a:r>
              <a:rPr lang="en-GB" sz="4800" b="1" dirty="0"/>
              <a:t> cause-and-effect paths to understand why a bias occurs in algorithmic decisions.</a:t>
            </a:r>
            <a:endParaRPr lang="en-US" sz="4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3081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55DA2AB-1420-4B0A-983C-9295EC7A8A7B}"/>
              </a:ext>
            </a:extLst>
          </p:cNvPr>
          <p:cNvSpPr/>
          <p:nvPr/>
        </p:nvSpPr>
        <p:spPr>
          <a:xfrm rot="6717184">
            <a:off x="3975424" y="2953660"/>
            <a:ext cx="16142284" cy="3857664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CB2C10-C8C0-456D-8D8F-38BE392896FE}"/>
              </a:ext>
            </a:extLst>
          </p:cNvPr>
          <p:cNvSpPr/>
          <p:nvPr/>
        </p:nvSpPr>
        <p:spPr>
          <a:xfrm rot="17911023">
            <a:off x="-7900895" y="-1083578"/>
            <a:ext cx="16142284" cy="4793504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  <a:effectLst>
            <a:outerShdw blurRad="596900" dist="457200" dir="5340000" sx="105000" sy="105000" algn="ctr" rotWithShape="0">
              <a:srgbClr val="000000">
                <a:alpha val="3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646565-1AF8-4F40-B7CD-D7208ECEF6D4}"/>
              </a:ext>
            </a:extLst>
          </p:cNvPr>
          <p:cNvSpPr/>
          <p:nvPr/>
        </p:nvSpPr>
        <p:spPr>
          <a:xfrm>
            <a:off x="2409061" y="706774"/>
            <a:ext cx="737387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b="1" dirty="0">
                <a:solidFill>
                  <a:srgbClr val="7030A0"/>
                </a:solidFill>
              </a:rPr>
              <a:t>Edge-Case Augmentation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ACBA830-694A-400C-87B9-0D794C66DAA5}"/>
              </a:ext>
            </a:extLst>
          </p:cNvPr>
          <p:cNvSpPr/>
          <p:nvPr/>
        </p:nvSpPr>
        <p:spPr>
          <a:xfrm>
            <a:off x="1522398" y="2520292"/>
            <a:ext cx="9124950" cy="3169269"/>
          </a:xfrm>
          <a:prstGeom prst="roundRect">
            <a:avLst/>
          </a:prstGeom>
          <a:gradFill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</a:gradFill>
          <a:effectLst>
            <a:outerShdw blurRad="622300" dist="101600" dir="5400000" sx="95000" sy="95000" algn="ctr" rotWithShape="0">
              <a:srgbClr val="000000">
                <a:alpha val="8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4400" b="1" dirty="0"/>
              <a:t>Synthesizing extreme or rare scenarios that rarely appear in historical logs to stress-test safety limits.</a:t>
            </a:r>
            <a:endParaRPr 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551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55DA2AB-1420-4B0A-983C-9295EC7A8A7B}"/>
              </a:ext>
            </a:extLst>
          </p:cNvPr>
          <p:cNvSpPr/>
          <p:nvPr/>
        </p:nvSpPr>
        <p:spPr>
          <a:xfrm rot="7096797">
            <a:off x="5413238" y="4685899"/>
            <a:ext cx="16142284" cy="3857664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CB2C10-C8C0-456D-8D8F-38BE392896FE}"/>
              </a:ext>
            </a:extLst>
          </p:cNvPr>
          <p:cNvSpPr/>
          <p:nvPr/>
        </p:nvSpPr>
        <p:spPr>
          <a:xfrm rot="624799">
            <a:off x="-1466909" y="-6641803"/>
            <a:ext cx="16142284" cy="14598021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  <a:effectLst>
            <a:outerShdw blurRad="596900" dist="457200" dir="5340000" sx="105000" sy="105000" algn="ctr" rotWithShape="0">
              <a:srgbClr val="000000">
                <a:alpha val="3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3F9BAD-24A1-4788-8518-C32295C1B5DE}"/>
              </a:ext>
            </a:extLst>
          </p:cNvPr>
          <p:cNvSpPr txBox="1"/>
          <p:nvPr/>
        </p:nvSpPr>
        <p:spPr>
          <a:xfrm>
            <a:off x="766916" y="2979174"/>
            <a:ext cx="8937523" cy="3046988"/>
          </a:xfrm>
          <a:prstGeom prst="rect">
            <a:avLst/>
          </a:prstGeom>
          <a:noFill/>
          <a:effectLst>
            <a:glow rad="254000">
              <a:schemeClr val="accent4">
                <a:alpha val="99000"/>
              </a:schemeClr>
            </a:glow>
            <a:softEdge rad="889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rgbClr val="7030A0"/>
                </a:solidFill>
              </a:rPr>
              <a:t>The Audit Lifecycle</a:t>
            </a:r>
            <a:endParaRPr lang="en-US" sz="115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225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55DA2AB-1420-4B0A-983C-9295EC7A8A7B}"/>
              </a:ext>
            </a:extLst>
          </p:cNvPr>
          <p:cNvSpPr/>
          <p:nvPr/>
        </p:nvSpPr>
        <p:spPr>
          <a:xfrm rot="14668777">
            <a:off x="-8175748" y="2778809"/>
            <a:ext cx="16142284" cy="4494462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CB2C10-C8C0-456D-8D8F-38BE392896FE}"/>
              </a:ext>
            </a:extLst>
          </p:cNvPr>
          <p:cNvSpPr/>
          <p:nvPr/>
        </p:nvSpPr>
        <p:spPr>
          <a:xfrm rot="3928057">
            <a:off x="3154270" y="-2068523"/>
            <a:ext cx="16142284" cy="5800721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  <a:effectLst>
            <a:outerShdw blurRad="596900" dist="457200" dir="5340000" sx="105000" sy="105000" algn="ctr" rotWithShape="0">
              <a:srgbClr val="000000">
                <a:alpha val="3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E644FF-DD97-4376-AC4C-C6D5249A5EE3}"/>
              </a:ext>
            </a:extLst>
          </p:cNvPr>
          <p:cNvSpPr txBox="1"/>
          <p:nvPr/>
        </p:nvSpPr>
        <p:spPr>
          <a:xfrm>
            <a:off x="2424112" y="657225"/>
            <a:ext cx="70770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7030A0"/>
                </a:solidFill>
              </a:rPr>
              <a:t>Data Assessment &amp; Mapping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509CD8-ED32-4980-81F8-A84486767581}"/>
              </a:ext>
            </a:extLst>
          </p:cNvPr>
          <p:cNvSpPr/>
          <p:nvPr/>
        </p:nvSpPr>
        <p:spPr>
          <a:xfrm>
            <a:off x="1400174" y="2235669"/>
            <a:ext cx="9124950" cy="3169269"/>
          </a:xfrm>
          <a:prstGeom prst="roundRect">
            <a:avLst/>
          </a:prstGeom>
          <a:gradFill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</a:gradFill>
          <a:effectLst>
            <a:outerShdw blurRad="622300" dist="101600" dir="5400000" sx="95000" sy="95000" algn="ctr" rotWithShape="0">
              <a:srgbClr val="000000">
                <a:alpha val="8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4400" b="1" dirty="0"/>
              <a:t>Identifying protected classes and hidden proxy variables that leak discrimination.</a:t>
            </a:r>
            <a:endParaRPr 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269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55DA2AB-1420-4B0A-983C-9295EC7A8A7B}"/>
              </a:ext>
            </a:extLst>
          </p:cNvPr>
          <p:cNvSpPr/>
          <p:nvPr/>
        </p:nvSpPr>
        <p:spPr>
          <a:xfrm rot="18281753">
            <a:off x="-8026011" y="-406843"/>
            <a:ext cx="16142284" cy="4494462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CB2C10-C8C0-456D-8D8F-38BE392896FE}"/>
              </a:ext>
            </a:extLst>
          </p:cNvPr>
          <p:cNvSpPr/>
          <p:nvPr/>
        </p:nvSpPr>
        <p:spPr>
          <a:xfrm rot="6473651">
            <a:off x="4339593" y="528640"/>
            <a:ext cx="16142284" cy="5800721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  <a:effectLst>
            <a:outerShdw blurRad="596900" dist="457200" dir="5340000" sx="105000" sy="105000" algn="ctr" rotWithShape="0">
              <a:srgbClr val="000000">
                <a:alpha val="3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E644FF-DD97-4376-AC4C-C6D5249A5EE3}"/>
              </a:ext>
            </a:extLst>
          </p:cNvPr>
          <p:cNvSpPr txBox="1"/>
          <p:nvPr/>
        </p:nvSpPr>
        <p:spPr>
          <a:xfrm>
            <a:off x="1952625" y="447116"/>
            <a:ext cx="78247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7030A0"/>
                </a:solidFill>
              </a:rPr>
              <a:t>Creating the Audit Benchmark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509CD8-ED32-4980-81F8-A84486767581}"/>
              </a:ext>
            </a:extLst>
          </p:cNvPr>
          <p:cNvSpPr/>
          <p:nvPr/>
        </p:nvSpPr>
        <p:spPr>
          <a:xfrm>
            <a:off x="1400174" y="2235669"/>
            <a:ext cx="9124950" cy="3169269"/>
          </a:xfrm>
          <a:prstGeom prst="roundRect">
            <a:avLst/>
          </a:prstGeom>
          <a:gradFill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</a:gradFill>
          <a:effectLst>
            <a:outerShdw blurRad="622300" dist="101600" dir="5400000" sx="95000" sy="95000" algn="ctr" rotWithShape="0">
              <a:srgbClr val="000000">
                <a:alpha val="8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4400" b="1" dirty="0"/>
              <a:t>Generating statistically sound "gold-standard" reference datasets for evaluation.</a:t>
            </a:r>
            <a:endParaRPr 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5757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55DA2AB-1420-4B0A-983C-9295EC7A8A7B}"/>
              </a:ext>
            </a:extLst>
          </p:cNvPr>
          <p:cNvSpPr/>
          <p:nvPr/>
        </p:nvSpPr>
        <p:spPr>
          <a:xfrm rot="12719553">
            <a:off x="-6118516" y="4610767"/>
            <a:ext cx="16142284" cy="4494462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CB2C10-C8C0-456D-8D8F-38BE392896FE}"/>
              </a:ext>
            </a:extLst>
          </p:cNvPr>
          <p:cNvSpPr/>
          <p:nvPr/>
        </p:nvSpPr>
        <p:spPr>
          <a:xfrm rot="1157058">
            <a:off x="116102" y="-3366381"/>
            <a:ext cx="16142284" cy="5800721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  <a:effectLst>
            <a:outerShdw blurRad="596900" dist="457200" dir="5340000" sx="105000" sy="105000" algn="ctr" rotWithShape="0">
              <a:srgbClr val="000000">
                <a:alpha val="3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E644FF-DD97-4376-AC4C-C6D5249A5EE3}"/>
              </a:ext>
            </a:extLst>
          </p:cNvPr>
          <p:cNvSpPr txBox="1"/>
          <p:nvPr/>
        </p:nvSpPr>
        <p:spPr>
          <a:xfrm>
            <a:off x="1952625" y="447116"/>
            <a:ext cx="78247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7030A0"/>
                </a:solidFill>
              </a:rPr>
              <a:t>Measuring Fairness Metrics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509CD8-ED32-4980-81F8-A84486767581}"/>
              </a:ext>
            </a:extLst>
          </p:cNvPr>
          <p:cNvSpPr/>
          <p:nvPr/>
        </p:nvSpPr>
        <p:spPr>
          <a:xfrm>
            <a:off x="1400174" y="2235669"/>
            <a:ext cx="9124950" cy="3169269"/>
          </a:xfrm>
          <a:prstGeom prst="roundRect">
            <a:avLst/>
          </a:prstGeom>
          <a:gradFill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</a:gradFill>
          <a:effectLst>
            <a:outerShdw blurRad="622300" dist="101600" dir="5400000" sx="95000" sy="95000" algn="ctr" rotWithShape="0">
              <a:srgbClr val="000000">
                <a:alpha val="8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4400" b="1" dirty="0"/>
              <a:t>Applying quantitative standards: Disparate Impact (Four-Fifths Rule) and Equalized Odds.</a:t>
            </a:r>
            <a:endParaRPr 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3323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55DA2AB-1420-4B0A-983C-9295EC7A8A7B}"/>
              </a:ext>
            </a:extLst>
          </p:cNvPr>
          <p:cNvSpPr/>
          <p:nvPr/>
        </p:nvSpPr>
        <p:spPr>
          <a:xfrm rot="10800000">
            <a:off x="-2835465" y="4623773"/>
            <a:ext cx="16142284" cy="4494462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CB2C10-C8C0-456D-8D8F-38BE392896FE}"/>
              </a:ext>
            </a:extLst>
          </p:cNvPr>
          <p:cNvSpPr/>
          <p:nvPr/>
        </p:nvSpPr>
        <p:spPr>
          <a:xfrm rot="2844122">
            <a:off x="2453981" y="-2900361"/>
            <a:ext cx="16142284" cy="5800721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  <a:effectLst>
            <a:outerShdw blurRad="596900" dist="457200" dir="5340000" sx="105000" sy="105000" algn="ctr" rotWithShape="0">
              <a:srgbClr val="000000">
                <a:alpha val="3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E644FF-DD97-4376-AC4C-C6D5249A5EE3}"/>
              </a:ext>
            </a:extLst>
          </p:cNvPr>
          <p:cNvSpPr txBox="1"/>
          <p:nvPr/>
        </p:nvSpPr>
        <p:spPr>
          <a:xfrm>
            <a:off x="1952625" y="447116"/>
            <a:ext cx="78247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7030A0"/>
                </a:solidFill>
              </a:rPr>
              <a:t>Remediation &amp; Retraining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509CD8-ED32-4980-81F8-A84486767581}"/>
              </a:ext>
            </a:extLst>
          </p:cNvPr>
          <p:cNvSpPr/>
          <p:nvPr/>
        </p:nvSpPr>
        <p:spPr>
          <a:xfrm>
            <a:off x="1400174" y="2235669"/>
            <a:ext cx="9124950" cy="3169269"/>
          </a:xfrm>
          <a:prstGeom prst="roundRect">
            <a:avLst/>
          </a:prstGeom>
          <a:gradFill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</a:gradFill>
          <a:effectLst>
            <a:outerShdw blurRad="622300" dist="101600" dir="5400000" sx="95000" sy="95000" algn="ctr" rotWithShape="0">
              <a:srgbClr val="000000">
                <a:alpha val="8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4400" b="1" dirty="0"/>
              <a:t>Using synthetic datasets to retrain models and correct discovered structural disparities.</a:t>
            </a:r>
            <a:endParaRPr 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31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55DA2AB-1420-4B0A-983C-9295EC7A8A7B}"/>
              </a:ext>
            </a:extLst>
          </p:cNvPr>
          <p:cNvSpPr/>
          <p:nvPr/>
        </p:nvSpPr>
        <p:spPr>
          <a:xfrm rot="19957376">
            <a:off x="-7368384" y="-2247231"/>
            <a:ext cx="16142284" cy="4494462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CB2C10-C8C0-456D-8D8F-38BE392896FE}"/>
              </a:ext>
            </a:extLst>
          </p:cNvPr>
          <p:cNvSpPr/>
          <p:nvPr/>
        </p:nvSpPr>
        <p:spPr>
          <a:xfrm rot="8078360">
            <a:off x="1269217" y="5217374"/>
            <a:ext cx="16142284" cy="5800721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  <a:effectLst>
            <a:outerShdw blurRad="596900" dist="457200" dir="5340000" sx="105000" sy="105000" algn="ctr" rotWithShape="0">
              <a:srgbClr val="000000">
                <a:alpha val="3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E644FF-DD97-4376-AC4C-C6D5249A5EE3}"/>
              </a:ext>
            </a:extLst>
          </p:cNvPr>
          <p:cNvSpPr txBox="1"/>
          <p:nvPr/>
        </p:nvSpPr>
        <p:spPr>
          <a:xfrm>
            <a:off x="1952625" y="447116"/>
            <a:ext cx="78247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7030A0"/>
                </a:solidFill>
              </a:rPr>
              <a:t>Remediation &amp; Retraining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509CD8-ED32-4980-81F8-A84486767581}"/>
              </a:ext>
            </a:extLst>
          </p:cNvPr>
          <p:cNvSpPr/>
          <p:nvPr/>
        </p:nvSpPr>
        <p:spPr>
          <a:xfrm>
            <a:off x="1400174" y="2235669"/>
            <a:ext cx="9124950" cy="3169269"/>
          </a:xfrm>
          <a:prstGeom prst="roundRect">
            <a:avLst/>
          </a:prstGeom>
          <a:gradFill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</a:gradFill>
          <a:effectLst>
            <a:outerShdw blurRad="622300" dist="101600" dir="5400000" sx="95000" sy="95000" algn="ctr" rotWithShape="0">
              <a:srgbClr val="000000">
                <a:alpha val="8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4400" b="1" dirty="0"/>
              <a:t>Using synthetic datasets to retrain models and correct discovered structural disparities.</a:t>
            </a:r>
            <a:endParaRPr 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591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55DA2AB-1420-4B0A-983C-9295EC7A8A7B}"/>
              </a:ext>
            </a:extLst>
          </p:cNvPr>
          <p:cNvSpPr/>
          <p:nvPr/>
        </p:nvSpPr>
        <p:spPr>
          <a:xfrm rot="7096797">
            <a:off x="5413238" y="4685899"/>
            <a:ext cx="16142284" cy="3857664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CB2C10-C8C0-456D-8D8F-38BE392896FE}"/>
              </a:ext>
            </a:extLst>
          </p:cNvPr>
          <p:cNvSpPr/>
          <p:nvPr/>
        </p:nvSpPr>
        <p:spPr>
          <a:xfrm rot="624799">
            <a:off x="-1466909" y="-6641803"/>
            <a:ext cx="16142284" cy="14598021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  <a:effectLst>
            <a:outerShdw blurRad="596900" dist="457200" dir="5340000" sx="105000" sy="105000" algn="ctr" rotWithShape="0">
              <a:srgbClr val="000000">
                <a:alpha val="3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3F9BAD-24A1-4788-8518-C32295C1B5DE}"/>
              </a:ext>
            </a:extLst>
          </p:cNvPr>
          <p:cNvSpPr txBox="1"/>
          <p:nvPr/>
        </p:nvSpPr>
        <p:spPr>
          <a:xfrm>
            <a:off x="766916" y="2979174"/>
            <a:ext cx="8937523" cy="3046988"/>
          </a:xfrm>
          <a:prstGeom prst="rect">
            <a:avLst/>
          </a:prstGeom>
          <a:noFill/>
          <a:effectLst>
            <a:glow rad="254000">
              <a:schemeClr val="accent4">
                <a:alpha val="99000"/>
              </a:schemeClr>
            </a:glow>
            <a:softEdge rad="889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rgbClr val="7030A0"/>
                </a:solidFill>
              </a:rPr>
              <a:t>Challenges &amp; Future Outlook</a:t>
            </a:r>
            <a:endParaRPr lang="en-US" sz="115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859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55DA2AB-1420-4B0A-983C-9295EC7A8A7B}"/>
              </a:ext>
            </a:extLst>
          </p:cNvPr>
          <p:cNvSpPr/>
          <p:nvPr/>
        </p:nvSpPr>
        <p:spPr>
          <a:xfrm rot="5775114">
            <a:off x="3816056" y="1939079"/>
            <a:ext cx="16142284" cy="3857664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CB2C10-C8C0-456D-8D8F-38BE392896FE}"/>
              </a:ext>
            </a:extLst>
          </p:cNvPr>
          <p:cNvSpPr/>
          <p:nvPr/>
        </p:nvSpPr>
        <p:spPr>
          <a:xfrm rot="16439092">
            <a:off x="-8071142" y="364021"/>
            <a:ext cx="16142284" cy="6891960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  <a:effectLst>
            <a:outerShdw blurRad="596900" dist="457200" dir="5340000" sx="105000" sy="105000" algn="ctr" rotWithShape="0">
              <a:srgbClr val="000000">
                <a:alpha val="3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EE96165-A9B6-4483-AFD4-7D7BFF8FB2DD}"/>
              </a:ext>
            </a:extLst>
          </p:cNvPr>
          <p:cNvSpPr/>
          <p:nvPr/>
        </p:nvSpPr>
        <p:spPr>
          <a:xfrm>
            <a:off x="1853449" y="2200275"/>
            <a:ext cx="8201024" cy="2823645"/>
          </a:xfrm>
          <a:prstGeom prst="roundRect">
            <a:avLst/>
          </a:prstGeom>
          <a:gradFill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</a:gradFill>
          <a:effectLst>
            <a:outerShdw blurRad="622300" dist="101600" dir="5400000" sx="95000" sy="95000" algn="ctr" rotWithShape="0">
              <a:srgbClr val="000000">
                <a:alpha val="8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4400" b="1" dirty="0"/>
              <a:t>The risk of over-sanitizing synthetic data and losing real-world </a:t>
            </a:r>
            <a:r>
              <a:rPr lang="en-GB" sz="4400" b="1" dirty="0" err="1"/>
              <a:t>behavioral</a:t>
            </a:r>
            <a:r>
              <a:rPr lang="en-GB" sz="4400" b="1" dirty="0"/>
              <a:t> complexities.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F374C-18A5-4393-99AD-AB00C8764386}"/>
              </a:ext>
            </a:extLst>
          </p:cNvPr>
          <p:cNvSpPr txBox="1"/>
          <p:nvPr/>
        </p:nvSpPr>
        <p:spPr>
          <a:xfrm>
            <a:off x="2086393" y="800100"/>
            <a:ext cx="77351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7030A0"/>
                </a:solidFill>
              </a:rPr>
              <a:t>Fidelity vs. Complexity Trade-Offs</a:t>
            </a:r>
          </a:p>
        </p:txBody>
      </p:sp>
    </p:spTree>
    <p:extLst>
      <p:ext uri="{BB962C8B-B14F-4D97-AF65-F5344CB8AC3E}">
        <p14:creationId xmlns:p14="http://schemas.microsoft.com/office/powerpoint/2010/main" val="1774775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55DA2AB-1420-4B0A-983C-9295EC7A8A7B}"/>
              </a:ext>
            </a:extLst>
          </p:cNvPr>
          <p:cNvSpPr/>
          <p:nvPr/>
        </p:nvSpPr>
        <p:spPr>
          <a:xfrm rot="5775114">
            <a:off x="3835309" y="1500168"/>
            <a:ext cx="16142284" cy="3857664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CB2C10-C8C0-456D-8D8F-38BE392896FE}"/>
              </a:ext>
            </a:extLst>
          </p:cNvPr>
          <p:cNvSpPr/>
          <p:nvPr/>
        </p:nvSpPr>
        <p:spPr>
          <a:xfrm rot="14974549">
            <a:off x="-6825775" y="3412020"/>
            <a:ext cx="16142284" cy="6891960"/>
          </a:xfrm>
          <a:custGeom>
            <a:avLst/>
            <a:gdLst>
              <a:gd name="connsiteX0" fmla="*/ 1834440 w 16142284"/>
              <a:gd name="connsiteY0" fmla="*/ 2348899 h 2887444"/>
              <a:gd name="connsiteX1" fmla="*/ 3895468 w 16142284"/>
              <a:gd name="connsiteY1" fmla="*/ 1565128 h 2887444"/>
              <a:gd name="connsiteX2" fmla="*/ 7001525 w 16142284"/>
              <a:gd name="connsiteY2" fmla="*/ 1840899 h 2887444"/>
              <a:gd name="connsiteX3" fmla="*/ 10513982 w 16142284"/>
              <a:gd name="connsiteY3" fmla="*/ 1390956 h 2887444"/>
              <a:gd name="connsiteX4" fmla="*/ 14926325 w 16142284"/>
              <a:gd name="connsiteY4" fmla="*/ 2871414 h 2887444"/>
              <a:gd name="connsiteX5" fmla="*/ 14911811 w 16142284"/>
              <a:gd name="connsiteY5" fmla="*/ 273356 h 2887444"/>
              <a:gd name="connsiteX6" fmla="*/ 847468 w 16142284"/>
              <a:gd name="connsiteY6" fmla="*/ 316899 h 2887444"/>
              <a:gd name="connsiteX7" fmla="*/ 1834440 w 16142284"/>
              <a:gd name="connsiteY7" fmla="*/ 2348899 h 288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42284" h="2887444">
                <a:moveTo>
                  <a:pt x="1834440" y="2348899"/>
                </a:moveTo>
                <a:cubicBezTo>
                  <a:pt x="2342440" y="2556937"/>
                  <a:pt x="3034287" y="1649795"/>
                  <a:pt x="3895468" y="1565128"/>
                </a:cubicBezTo>
                <a:cubicBezTo>
                  <a:pt x="4756649" y="1480461"/>
                  <a:pt x="5898439" y="1869928"/>
                  <a:pt x="7001525" y="1840899"/>
                </a:cubicBezTo>
                <a:cubicBezTo>
                  <a:pt x="8104611" y="1811870"/>
                  <a:pt x="9193182" y="1219203"/>
                  <a:pt x="10513982" y="1390956"/>
                </a:cubicBezTo>
                <a:cubicBezTo>
                  <a:pt x="11834782" y="1562708"/>
                  <a:pt x="14193354" y="3057681"/>
                  <a:pt x="14926325" y="2871414"/>
                </a:cubicBezTo>
                <a:cubicBezTo>
                  <a:pt x="15659296" y="2685147"/>
                  <a:pt x="17258287" y="699108"/>
                  <a:pt x="14911811" y="273356"/>
                </a:cubicBezTo>
                <a:cubicBezTo>
                  <a:pt x="12565335" y="-152397"/>
                  <a:pt x="3029449" y="-36282"/>
                  <a:pt x="847468" y="316899"/>
                </a:cubicBezTo>
                <a:cubicBezTo>
                  <a:pt x="-1334513" y="670080"/>
                  <a:pt x="1326440" y="2140861"/>
                  <a:pt x="1834440" y="2348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chemeClr val="accent1">
                  <a:lumMod val="97000"/>
                  <a:lumOff val="3000"/>
                </a:schemeClr>
              </a:gs>
              <a:gs pos="85000">
                <a:srgbClr val="7030A0"/>
              </a:gs>
            </a:gsLst>
            <a:lin ang="16200000" scaled="1"/>
            <a:tileRect/>
          </a:gradFill>
          <a:ln>
            <a:noFill/>
          </a:ln>
          <a:effectLst>
            <a:outerShdw blurRad="596900" dist="457200" dir="5340000" sx="105000" sy="105000" algn="ctr" rotWithShape="0">
              <a:srgbClr val="000000">
                <a:alpha val="3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F374C-18A5-4393-99AD-AB00C8764386}"/>
              </a:ext>
            </a:extLst>
          </p:cNvPr>
          <p:cNvSpPr txBox="1"/>
          <p:nvPr/>
        </p:nvSpPr>
        <p:spPr>
          <a:xfrm>
            <a:off x="2076031" y="174182"/>
            <a:ext cx="77351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7030A0"/>
                </a:solidFill>
              </a:rPr>
              <a:t>Conclusion</a:t>
            </a:r>
            <a:endParaRPr lang="en-US" sz="4000" b="1" dirty="0">
              <a:solidFill>
                <a:srgbClr val="7030A0"/>
              </a:solidFill>
            </a:endParaRPr>
          </a:p>
        </p:txBody>
      </p:sp>
      <p:sp>
        <p:nvSpPr>
          <p:cNvPr id="4" name="AutoShape 2" descr="A composite visualization illustrating the application of synthetic data for bias detection and fairness audits across five distinct analytical stages, presented as separate panels within a cohesive infographic design. The overall title at the top reads: &quot;SYNTHETIC DATA FOR BIAS DETECTION &amp; FAIRNESS AUDITS.&quot; The style is a clean, professional digital illustration with a color palette of deep blues, purples, teal, and warm gold accents, set against a light background.&#10;&#10;Panel 1 (Top Left), &quot;1. DATA ASSESSMENT &amp; IDENTIFICATION,&quot; shows a magnifying glass over a distorted dataset visualization, with icons for &quot;Real-World Data,&quot; &quot;Historical Bias,&quot; &quot;Protected Attributes (Race, Gender),&quot; and &quot;Proxy Variables (Zip Code).&quot; Small arrows point to a flowchart.&#10;Panel 2 (Top Middle), &quot;2. SYNTHETIC DATA GENERATION (GANs/VAEs),&quot; illustrates a complex neural network model with a &quot;Generator&quot; producing &quot;Synthetic Samples&quot; from a distribution, while a &quot;Discriminator&quot; checks for fidelity. Text reads: &quot;MIRRORING STATISTICAL PROPERTIES.&quot;&#10;Panel 3 (Top Right), &quot;3. DEMOGRAPHIC BALANCING,&quot; features a bar chart comparison. The &quot;Original Data&quot; bar for a minority group is small and red; the &quot;Synthetic Data&quot; bar for the same group is scaled up to match, colored green, with a label: &quot;SCALING UNDERREPRESENTED GROUPS.&quot;&#10;Panel 4 (Bottom Left), &quot;4. COUNTERFACTUAL STRESS TESTING,&quot; shows a central data record for an individual (e.g., 'Applicant A') and multiple branching paths where a single attribute (Gender: F -&gt; M) is flipped, leading to different model predictions (e.g., &quot;Loan Approved&quot; vs. &quot;Loan Denied&quot;). Text: &quot;EVALUATING INDIVIDUAL CONSISTENCY.&quot;&#10;Panel 5 (Bottom Middle &amp; Right), &quot;5. AUDIT &amp; REMEDIATION,&quot; displays a large dashboard with charts labeled &quot;DISPARATE IMPACT (4/5th Rule)&quot; and &quot;EQUALIZED ODDS.&quot; A slider graphic moves from &quot;HIGH BIAS&quot; towards &quot;FAIRNESS.&quot; Below it, a 'Retraining' icon with &quot;DE-BIASED MODEL&quot; leads to &quot;FAIR OUTCOMES.&quot;&#10;Arrows connect the panels in a cycle, emphasizing an iterative process. The entire image has a digital interface aesthetic with interconnected lines and data points., AI generated, AI generated">
            <a:extLst>
              <a:ext uri="{FF2B5EF4-FFF2-40B4-BE49-F238E27FC236}">
                <a16:creationId xmlns:a16="http://schemas.microsoft.com/office/drawing/2014/main" id="{B74447BF-2575-4176-A77B-48BEBF3F1B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 descr="A composite visualization illustrating the application of synthetic data for bias detection and fairness audits across five distinct analytical stages, presented as separate panels within a cohesive infographic design. The overall title at the top reads: &quot;SYNTHETIC DATA FOR BIAS DETECTION &amp; FAIRNESS AUDITS.&quot; The style is a clean, professional digital illustration with a color palette of deep blues, purples, teal, and warm gold accents, set against a light background.&#10;&#10;Panel 1 (Top Left), &quot;1. DATA ASSESSMENT &amp; IDENTIFICATION,&quot; shows a magnifying glass over a distorted dataset visualization, with icons for &quot;Real-World Data,&quot; &quot;Historical Bias,&quot; &quot;Protected Attributes (Race, Gender),&quot; and &quot;Proxy Variables (Zip Code).&quot; Small arrows point to a flowchart.&#10;Panel 2 (Top Middle), &quot;2. SYNTHETIC DATA GENERATION (GANs/VAEs),&quot; illustrates a complex neural network model with a &quot;Generator&quot; producing &quot;Synthetic Samples&quot; from a distribution, while a &quot;Discriminator&quot; checks for fidelity. Text reads: &quot;MIRRORING STATISTICAL PROPERTIES.&quot;&#10;Panel 3 (Top Right), &quot;3. DEMOGRAPHIC BALANCING,&quot; features a bar chart comparison. The &quot;Original Data&quot; bar for a minority group is small and red; the &quot;Synthetic Data&quot; bar for the same group is scaled up to match, colored green, with a label: &quot;SCALING UNDERREPRESENTED GROUPS.&quot;&#10;Panel 4 (Bottom Left), &quot;4. COUNTERFACTUAL STRESS TESTING,&quot; shows a central data record for an individual (e.g., 'Applicant A') and multiple branching paths where a single attribute (Gender: F -&gt; M) is flipped, leading to different model predictions (e.g., &quot;Loan Approved&quot; vs. &quot;Loan Denied&quot;). Text: &quot;EVALUATING INDIVIDUAL CONSISTENCY.&quot;&#10;Panel 5 (Bottom Middle &amp; Right), &quot;5. AUDIT &amp; REMEDIATION,&quot; displays a large dashboard with charts labeled &quot;DISPARATE IMPACT (4/5th Rule)&quot; and &quot;EQUALIZED ODDS.&quot; A slider graphic moves from &quot;HIGH BIAS&quot; towards &quot;FAIRNESS.&quot; Below it, a 'Retraining' icon with &quot;DE-BIASED MODEL&quot; leads to &quot;FAIR OUTCOMES.&quot;&#10;Arrows connect the panels in a cycle, emphasizing an iterative process. The entire image has a digital interface aesthetic with interconnected lines and data points., AI generated, AI generated">
            <a:extLst>
              <a:ext uri="{FF2B5EF4-FFF2-40B4-BE49-F238E27FC236}">
                <a16:creationId xmlns:a16="http://schemas.microsoft.com/office/drawing/2014/main" id="{872E67F8-C747-46E5-8395-23DE706DD8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442452" y="-3109452"/>
            <a:ext cx="6843252" cy="6843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E40CF1-D6F1-4CB1-911E-825CE32C8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570" y="1310345"/>
            <a:ext cx="8898859" cy="485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601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371</Words>
  <Application>Microsoft Office PowerPoint</Application>
  <PresentationFormat>Widescreen</PresentationFormat>
  <Paragraphs>57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Arial Black</vt:lpstr>
      <vt:lpstr>Bahnschrift</vt:lpstr>
      <vt:lpstr>Bahnschrift SemiBold</vt:lpstr>
      <vt:lpstr>Berlin Sans FB Demi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Ahmed_Emam</dc:creator>
  <cp:lastModifiedBy>Ahmed_Emam</cp:lastModifiedBy>
  <cp:revision>14</cp:revision>
  <dcterms:created xsi:type="dcterms:W3CDTF">2026-08-17T20:48:27Z</dcterms:created>
  <dcterms:modified xsi:type="dcterms:W3CDTF">2026-08-18T16:13:05Z</dcterms:modified>
</cp:coreProperties>
</file>